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7" r:id="rId4"/>
    <p:sldId id="260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96DB2D-4D7E-421E-B23F-B1BD432BCB19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ECC1C52-D9FC-46F5-875E-2AB5299781E0}">
      <dgm:prSet/>
      <dgm:spPr/>
      <dgm:t>
        <a:bodyPr/>
        <a:lstStyle/>
        <a:p>
          <a:r>
            <a:rPr lang="en-US" dirty="0"/>
            <a:t>Monthly Revenue &amp; Profit</a:t>
          </a:r>
        </a:p>
      </dgm:t>
    </dgm:pt>
    <dgm:pt modelId="{D7595F81-872D-4314-AE4B-3E1F4138EF40}" type="parTrans" cxnId="{DB7C61FB-9943-425B-B3DB-42E775D11DC6}">
      <dgm:prSet/>
      <dgm:spPr/>
      <dgm:t>
        <a:bodyPr/>
        <a:lstStyle/>
        <a:p>
          <a:endParaRPr lang="en-US"/>
        </a:p>
      </dgm:t>
    </dgm:pt>
    <dgm:pt modelId="{AEC89552-2214-4372-AC3B-6A503DD13058}" type="sibTrans" cxnId="{DB7C61FB-9943-425B-B3DB-42E775D11DC6}">
      <dgm:prSet/>
      <dgm:spPr/>
      <dgm:t>
        <a:bodyPr/>
        <a:lstStyle/>
        <a:p>
          <a:endParaRPr lang="en-US"/>
        </a:p>
      </dgm:t>
    </dgm:pt>
    <dgm:pt modelId="{934D7FCD-95F8-4D41-AE2A-93390BE6D0E0}">
      <dgm:prSet/>
      <dgm:spPr/>
      <dgm:t>
        <a:bodyPr/>
        <a:lstStyle/>
        <a:p>
          <a:r>
            <a:rPr lang="en-US"/>
            <a:t>Top 5 Country by Revenue</a:t>
          </a:r>
        </a:p>
      </dgm:t>
    </dgm:pt>
    <dgm:pt modelId="{CF4A0802-AD66-4A8B-BAC6-6CADC81D127E}" type="parTrans" cxnId="{E0B1876A-C1D6-453B-A4AF-7AEE6FE0DE48}">
      <dgm:prSet/>
      <dgm:spPr/>
      <dgm:t>
        <a:bodyPr/>
        <a:lstStyle/>
        <a:p>
          <a:endParaRPr lang="en-US"/>
        </a:p>
      </dgm:t>
    </dgm:pt>
    <dgm:pt modelId="{39F2999D-9A0C-47C7-AAC8-7CB0AC178472}" type="sibTrans" cxnId="{E0B1876A-C1D6-453B-A4AF-7AEE6FE0DE48}">
      <dgm:prSet/>
      <dgm:spPr/>
      <dgm:t>
        <a:bodyPr/>
        <a:lstStyle/>
        <a:p>
          <a:endParaRPr lang="en-US"/>
        </a:p>
      </dgm:t>
    </dgm:pt>
    <dgm:pt modelId="{59697B55-1B11-4CEA-B048-55FA46054C4E}">
      <dgm:prSet/>
      <dgm:spPr/>
      <dgm:t>
        <a:bodyPr/>
        <a:lstStyle/>
        <a:p>
          <a:r>
            <a:rPr lang="en-IN" b="0" dirty="0"/>
            <a:t>Revenue Share by Channel </a:t>
          </a:r>
          <a:endParaRPr lang="en-US" b="0" dirty="0"/>
        </a:p>
      </dgm:t>
    </dgm:pt>
    <dgm:pt modelId="{25E171D8-F2E3-47AC-9AE8-B863C2DB1CE1}" type="parTrans" cxnId="{B36FFF80-4ED0-402E-8030-4D64734BAB10}">
      <dgm:prSet/>
      <dgm:spPr/>
      <dgm:t>
        <a:bodyPr/>
        <a:lstStyle/>
        <a:p>
          <a:endParaRPr lang="en-US"/>
        </a:p>
      </dgm:t>
    </dgm:pt>
    <dgm:pt modelId="{F813323C-0CC7-4098-BC0A-8DB11BE64F2B}" type="sibTrans" cxnId="{B36FFF80-4ED0-402E-8030-4D64734BAB10}">
      <dgm:prSet/>
      <dgm:spPr/>
      <dgm:t>
        <a:bodyPr/>
        <a:lstStyle/>
        <a:p>
          <a:endParaRPr lang="en-US"/>
        </a:p>
      </dgm:t>
    </dgm:pt>
    <dgm:pt modelId="{51D5728A-52C5-48F4-8234-B1C6C9FC6859}">
      <dgm:prSet/>
      <dgm:spPr/>
      <dgm:t>
        <a:bodyPr/>
        <a:lstStyle/>
        <a:p>
          <a:r>
            <a:rPr lang="en-US" dirty="0"/>
            <a:t>Region wise Comparison</a:t>
          </a:r>
        </a:p>
      </dgm:t>
    </dgm:pt>
    <dgm:pt modelId="{BFE895BD-D7AB-4E2C-8779-A48C3162DE7F}" type="parTrans" cxnId="{9E46B573-316B-4841-9E13-9054F25FAAE2}">
      <dgm:prSet/>
      <dgm:spPr/>
      <dgm:t>
        <a:bodyPr/>
        <a:lstStyle/>
        <a:p>
          <a:endParaRPr lang="en-US"/>
        </a:p>
      </dgm:t>
    </dgm:pt>
    <dgm:pt modelId="{E264BEA8-A837-4023-966C-316DA8430780}" type="sibTrans" cxnId="{9E46B573-316B-4841-9E13-9054F25FAAE2}">
      <dgm:prSet/>
      <dgm:spPr/>
      <dgm:t>
        <a:bodyPr/>
        <a:lstStyle/>
        <a:p>
          <a:endParaRPr lang="en-US"/>
        </a:p>
      </dgm:t>
    </dgm:pt>
    <dgm:pt modelId="{BF820882-D123-452F-90EE-2C7D1805133B}">
      <dgm:prSet/>
      <dgm:spPr/>
      <dgm:t>
        <a:bodyPr/>
        <a:lstStyle/>
        <a:p>
          <a:r>
            <a:rPr lang="en-US" dirty="0"/>
            <a:t>Country wise Map Chart</a:t>
          </a:r>
        </a:p>
      </dgm:t>
    </dgm:pt>
    <dgm:pt modelId="{FD679A32-679D-44F9-B619-969962CEFF63}" type="parTrans" cxnId="{62FFF748-D381-4C8D-9782-BF59BF6DF1C3}">
      <dgm:prSet/>
      <dgm:spPr/>
      <dgm:t>
        <a:bodyPr/>
        <a:lstStyle/>
        <a:p>
          <a:endParaRPr lang="en-US"/>
        </a:p>
      </dgm:t>
    </dgm:pt>
    <dgm:pt modelId="{559920B2-D450-45E6-B005-73D721881B4D}" type="sibTrans" cxnId="{62FFF748-D381-4C8D-9782-BF59BF6DF1C3}">
      <dgm:prSet/>
      <dgm:spPr/>
      <dgm:t>
        <a:bodyPr/>
        <a:lstStyle/>
        <a:p>
          <a:endParaRPr lang="en-US"/>
        </a:p>
      </dgm:t>
    </dgm:pt>
    <dgm:pt modelId="{60D07F30-0C0F-4876-BE93-EBD29776261B}" type="pres">
      <dgm:prSet presAssocID="{6996DB2D-4D7E-421E-B23F-B1BD432BCB19}" presName="linear" presStyleCnt="0">
        <dgm:presLayoutVars>
          <dgm:dir/>
          <dgm:animLvl val="lvl"/>
          <dgm:resizeHandles val="exact"/>
        </dgm:presLayoutVars>
      </dgm:prSet>
      <dgm:spPr/>
    </dgm:pt>
    <dgm:pt modelId="{DCFF3E2F-7CE6-4FCA-B870-2AB449DDC120}" type="pres">
      <dgm:prSet presAssocID="{CECC1C52-D9FC-46F5-875E-2AB5299781E0}" presName="parentLin" presStyleCnt="0"/>
      <dgm:spPr/>
    </dgm:pt>
    <dgm:pt modelId="{4BFA5120-EE7C-44F5-BE49-B28915B9A1F9}" type="pres">
      <dgm:prSet presAssocID="{CECC1C52-D9FC-46F5-875E-2AB5299781E0}" presName="parentLeftMargin" presStyleLbl="node1" presStyleIdx="0" presStyleCnt="5"/>
      <dgm:spPr/>
    </dgm:pt>
    <dgm:pt modelId="{ABA1BF65-C50E-43DF-9508-D528001285C5}" type="pres">
      <dgm:prSet presAssocID="{CECC1C52-D9FC-46F5-875E-2AB5299781E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4B0AF87-00FF-442E-A805-859537EECAEB}" type="pres">
      <dgm:prSet presAssocID="{CECC1C52-D9FC-46F5-875E-2AB5299781E0}" presName="negativeSpace" presStyleCnt="0"/>
      <dgm:spPr/>
    </dgm:pt>
    <dgm:pt modelId="{8ECB7A0D-7174-48FA-ABA8-D9ACCEC88C8D}" type="pres">
      <dgm:prSet presAssocID="{CECC1C52-D9FC-46F5-875E-2AB5299781E0}" presName="childText" presStyleLbl="conFgAcc1" presStyleIdx="0" presStyleCnt="5">
        <dgm:presLayoutVars>
          <dgm:bulletEnabled val="1"/>
        </dgm:presLayoutVars>
      </dgm:prSet>
      <dgm:spPr/>
    </dgm:pt>
    <dgm:pt modelId="{6B6D72F1-85FE-49CD-8B3B-510269AE2AD4}" type="pres">
      <dgm:prSet presAssocID="{AEC89552-2214-4372-AC3B-6A503DD13058}" presName="spaceBetweenRectangles" presStyleCnt="0"/>
      <dgm:spPr/>
    </dgm:pt>
    <dgm:pt modelId="{6D49B85E-7E19-45BE-82F5-F3B144C6C02C}" type="pres">
      <dgm:prSet presAssocID="{934D7FCD-95F8-4D41-AE2A-93390BE6D0E0}" presName="parentLin" presStyleCnt="0"/>
      <dgm:spPr/>
    </dgm:pt>
    <dgm:pt modelId="{FDED8042-C583-483A-991D-5EC784075453}" type="pres">
      <dgm:prSet presAssocID="{934D7FCD-95F8-4D41-AE2A-93390BE6D0E0}" presName="parentLeftMargin" presStyleLbl="node1" presStyleIdx="0" presStyleCnt="5"/>
      <dgm:spPr/>
    </dgm:pt>
    <dgm:pt modelId="{63D15ED2-0970-4F92-A5ED-774EE4CBB7F8}" type="pres">
      <dgm:prSet presAssocID="{934D7FCD-95F8-4D41-AE2A-93390BE6D0E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E183B16-3151-4365-AE54-0A2D42CE14F2}" type="pres">
      <dgm:prSet presAssocID="{934D7FCD-95F8-4D41-AE2A-93390BE6D0E0}" presName="negativeSpace" presStyleCnt="0"/>
      <dgm:spPr/>
    </dgm:pt>
    <dgm:pt modelId="{32354A79-03DC-4E30-935E-BCFCAB08A7F8}" type="pres">
      <dgm:prSet presAssocID="{934D7FCD-95F8-4D41-AE2A-93390BE6D0E0}" presName="childText" presStyleLbl="conFgAcc1" presStyleIdx="1" presStyleCnt="5">
        <dgm:presLayoutVars>
          <dgm:bulletEnabled val="1"/>
        </dgm:presLayoutVars>
      </dgm:prSet>
      <dgm:spPr/>
    </dgm:pt>
    <dgm:pt modelId="{37145218-02D0-4A93-8CEF-3C742A44FD74}" type="pres">
      <dgm:prSet presAssocID="{39F2999D-9A0C-47C7-AAC8-7CB0AC178472}" presName="spaceBetweenRectangles" presStyleCnt="0"/>
      <dgm:spPr/>
    </dgm:pt>
    <dgm:pt modelId="{CE191FF5-DFB1-4F32-ADC6-98AD9AF37866}" type="pres">
      <dgm:prSet presAssocID="{59697B55-1B11-4CEA-B048-55FA46054C4E}" presName="parentLin" presStyleCnt="0"/>
      <dgm:spPr/>
    </dgm:pt>
    <dgm:pt modelId="{679AA101-DD3E-4A11-973B-2CE39DD204BE}" type="pres">
      <dgm:prSet presAssocID="{59697B55-1B11-4CEA-B048-55FA46054C4E}" presName="parentLeftMargin" presStyleLbl="node1" presStyleIdx="1" presStyleCnt="5"/>
      <dgm:spPr/>
    </dgm:pt>
    <dgm:pt modelId="{6A61118E-2AAE-4207-97A8-A58DB79D3431}" type="pres">
      <dgm:prSet presAssocID="{59697B55-1B11-4CEA-B048-55FA46054C4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21EA057-655A-450F-B969-B17760CC384D}" type="pres">
      <dgm:prSet presAssocID="{59697B55-1B11-4CEA-B048-55FA46054C4E}" presName="negativeSpace" presStyleCnt="0"/>
      <dgm:spPr/>
    </dgm:pt>
    <dgm:pt modelId="{43609280-29B2-44E3-8426-9858B74E31C7}" type="pres">
      <dgm:prSet presAssocID="{59697B55-1B11-4CEA-B048-55FA46054C4E}" presName="childText" presStyleLbl="conFgAcc1" presStyleIdx="2" presStyleCnt="5">
        <dgm:presLayoutVars>
          <dgm:bulletEnabled val="1"/>
        </dgm:presLayoutVars>
      </dgm:prSet>
      <dgm:spPr/>
    </dgm:pt>
    <dgm:pt modelId="{5A469B0A-A068-4EB8-8386-AB06966C9C80}" type="pres">
      <dgm:prSet presAssocID="{F813323C-0CC7-4098-BC0A-8DB11BE64F2B}" presName="spaceBetweenRectangles" presStyleCnt="0"/>
      <dgm:spPr/>
    </dgm:pt>
    <dgm:pt modelId="{45AAFF9C-673F-4914-BE04-7D74015C6D63}" type="pres">
      <dgm:prSet presAssocID="{51D5728A-52C5-48F4-8234-B1C6C9FC6859}" presName="parentLin" presStyleCnt="0"/>
      <dgm:spPr/>
    </dgm:pt>
    <dgm:pt modelId="{6811CC4E-6BAE-492E-BEA7-B2654D37B8B9}" type="pres">
      <dgm:prSet presAssocID="{51D5728A-52C5-48F4-8234-B1C6C9FC6859}" presName="parentLeftMargin" presStyleLbl="node1" presStyleIdx="2" presStyleCnt="5"/>
      <dgm:spPr/>
    </dgm:pt>
    <dgm:pt modelId="{FCC01EE0-6671-4DE0-8BB4-D959A2AD96DE}" type="pres">
      <dgm:prSet presAssocID="{51D5728A-52C5-48F4-8234-B1C6C9FC685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BCE4650-E6C1-494B-8DAE-D4146EB38CF4}" type="pres">
      <dgm:prSet presAssocID="{51D5728A-52C5-48F4-8234-B1C6C9FC6859}" presName="negativeSpace" presStyleCnt="0"/>
      <dgm:spPr/>
    </dgm:pt>
    <dgm:pt modelId="{69E30C31-3634-460D-8A1F-1BFE5D1D15A1}" type="pres">
      <dgm:prSet presAssocID="{51D5728A-52C5-48F4-8234-B1C6C9FC6859}" presName="childText" presStyleLbl="conFgAcc1" presStyleIdx="3" presStyleCnt="5">
        <dgm:presLayoutVars>
          <dgm:bulletEnabled val="1"/>
        </dgm:presLayoutVars>
      </dgm:prSet>
      <dgm:spPr/>
    </dgm:pt>
    <dgm:pt modelId="{54BE4A1A-AFCB-4C40-B2F8-FEFA59963B10}" type="pres">
      <dgm:prSet presAssocID="{E264BEA8-A837-4023-966C-316DA8430780}" presName="spaceBetweenRectangles" presStyleCnt="0"/>
      <dgm:spPr/>
    </dgm:pt>
    <dgm:pt modelId="{80743460-5346-434F-B85A-E50B53A6969B}" type="pres">
      <dgm:prSet presAssocID="{BF820882-D123-452F-90EE-2C7D1805133B}" presName="parentLin" presStyleCnt="0"/>
      <dgm:spPr/>
    </dgm:pt>
    <dgm:pt modelId="{310A7DAF-869C-4172-BEFF-5A67B5439D44}" type="pres">
      <dgm:prSet presAssocID="{BF820882-D123-452F-90EE-2C7D1805133B}" presName="parentLeftMargin" presStyleLbl="node1" presStyleIdx="3" presStyleCnt="5"/>
      <dgm:spPr/>
    </dgm:pt>
    <dgm:pt modelId="{25089050-6D87-4AC8-9A6E-29132B2381ED}" type="pres">
      <dgm:prSet presAssocID="{BF820882-D123-452F-90EE-2C7D1805133B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56236BC6-E11E-4CE3-A046-875621FD8192}" type="pres">
      <dgm:prSet presAssocID="{BF820882-D123-452F-90EE-2C7D1805133B}" presName="negativeSpace" presStyleCnt="0"/>
      <dgm:spPr/>
    </dgm:pt>
    <dgm:pt modelId="{307D769C-E87D-4671-984B-ED2D7EDCE2DC}" type="pres">
      <dgm:prSet presAssocID="{BF820882-D123-452F-90EE-2C7D1805133B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56D1715-A71B-49FD-A60B-947CD867721D}" type="presOf" srcId="{BF820882-D123-452F-90EE-2C7D1805133B}" destId="{310A7DAF-869C-4172-BEFF-5A67B5439D44}" srcOrd="0" destOrd="0" presId="urn:microsoft.com/office/officeart/2005/8/layout/list1"/>
    <dgm:cxn modelId="{624BF917-B0D4-43DC-84EB-DD136E883B1B}" type="presOf" srcId="{51D5728A-52C5-48F4-8234-B1C6C9FC6859}" destId="{6811CC4E-6BAE-492E-BEA7-B2654D37B8B9}" srcOrd="0" destOrd="0" presId="urn:microsoft.com/office/officeart/2005/8/layout/list1"/>
    <dgm:cxn modelId="{591F1B42-165A-4F14-A1F8-9B4D5725F80B}" type="presOf" srcId="{59697B55-1B11-4CEA-B048-55FA46054C4E}" destId="{679AA101-DD3E-4A11-973B-2CE39DD204BE}" srcOrd="0" destOrd="0" presId="urn:microsoft.com/office/officeart/2005/8/layout/list1"/>
    <dgm:cxn modelId="{7C14BE46-D105-43D0-B474-58E48F4C3983}" type="presOf" srcId="{CECC1C52-D9FC-46F5-875E-2AB5299781E0}" destId="{ABA1BF65-C50E-43DF-9508-D528001285C5}" srcOrd="1" destOrd="0" presId="urn:microsoft.com/office/officeart/2005/8/layout/list1"/>
    <dgm:cxn modelId="{62FFF748-D381-4C8D-9782-BF59BF6DF1C3}" srcId="{6996DB2D-4D7E-421E-B23F-B1BD432BCB19}" destId="{BF820882-D123-452F-90EE-2C7D1805133B}" srcOrd="4" destOrd="0" parTransId="{FD679A32-679D-44F9-B619-969962CEFF63}" sibTransId="{559920B2-D450-45E6-B005-73D721881B4D}"/>
    <dgm:cxn modelId="{E0B1876A-C1D6-453B-A4AF-7AEE6FE0DE48}" srcId="{6996DB2D-4D7E-421E-B23F-B1BD432BCB19}" destId="{934D7FCD-95F8-4D41-AE2A-93390BE6D0E0}" srcOrd="1" destOrd="0" parTransId="{CF4A0802-AD66-4A8B-BAC6-6CADC81D127E}" sibTransId="{39F2999D-9A0C-47C7-AAC8-7CB0AC178472}"/>
    <dgm:cxn modelId="{9E46B573-316B-4841-9E13-9054F25FAAE2}" srcId="{6996DB2D-4D7E-421E-B23F-B1BD432BCB19}" destId="{51D5728A-52C5-48F4-8234-B1C6C9FC6859}" srcOrd="3" destOrd="0" parTransId="{BFE895BD-D7AB-4E2C-8779-A48C3162DE7F}" sibTransId="{E264BEA8-A837-4023-966C-316DA8430780}"/>
    <dgm:cxn modelId="{B36FFF80-4ED0-402E-8030-4D64734BAB10}" srcId="{6996DB2D-4D7E-421E-B23F-B1BD432BCB19}" destId="{59697B55-1B11-4CEA-B048-55FA46054C4E}" srcOrd="2" destOrd="0" parTransId="{25E171D8-F2E3-47AC-9AE8-B863C2DB1CE1}" sibTransId="{F813323C-0CC7-4098-BC0A-8DB11BE64F2B}"/>
    <dgm:cxn modelId="{9E203B88-AB81-4683-9729-4C8A98B0E4B1}" type="presOf" srcId="{6996DB2D-4D7E-421E-B23F-B1BD432BCB19}" destId="{60D07F30-0C0F-4876-BE93-EBD29776261B}" srcOrd="0" destOrd="0" presId="urn:microsoft.com/office/officeart/2005/8/layout/list1"/>
    <dgm:cxn modelId="{343D338B-A502-455F-9E33-0C54756CE287}" type="presOf" srcId="{CECC1C52-D9FC-46F5-875E-2AB5299781E0}" destId="{4BFA5120-EE7C-44F5-BE49-B28915B9A1F9}" srcOrd="0" destOrd="0" presId="urn:microsoft.com/office/officeart/2005/8/layout/list1"/>
    <dgm:cxn modelId="{2806188F-923D-473F-8813-E2C8793286F8}" type="presOf" srcId="{51D5728A-52C5-48F4-8234-B1C6C9FC6859}" destId="{FCC01EE0-6671-4DE0-8BB4-D959A2AD96DE}" srcOrd="1" destOrd="0" presId="urn:microsoft.com/office/officeart/2005/8/layout/list1"/>
    <dgm:cxn modelId="{A4684BBA-3454-4C64-A28C-E4775E08D156}" type="presOf" srcId="{59697B55-1B11-4CEA-B048-55FA46054C4E}" destId="{6A61118E-2AAE-4207-97A8-A58DB79D3431}" srcOrd="1" destOrd="0" presId="urn:microsoft.com/office/officeart/2005/8/layout/list1"/>
    <dgm:cxn modelId="{33193ED6-CFA2-444E-865A-51B882F2FC54}" type="presOf" srcId="{934D7FCD-95F8-4D41-AE2A-93390BE6D0E0}" destId="{FDED8042-C583-483A-991D-5EC784075453}" srcOrd="0" destOrd="0" presId="urn:microsoft.com/office/officeart/2005/8/layout/list1"/>
    <dgm:cxn modelId="{492049D9-E209-4EF8-960E-3BFC0523862D}" type="presOf" srcId="{BF820882-D123-452F-90EE-2C7D1805133B}" destId="{25089050-6D87-4AC8-9A6E-29132B2381ED}" srcOrd="1" destOrd="0" presId="urn:microsoft.com/office/officeart/2005/8/layout/list1"/>
    <dgm:cxn modelId="{9B7590D9-880E-4C1F-AB2D-3B6F1DCBC360}" type="presOf" srcId="{934D7FCD-95F8-4D41-AE2A-93390BE6D0E0}" destId="{63D15ED2-0970-4F92-A5ED-774EE4CBB7F8}" srcOrd="1" destOrd="0" presId="urn:microsoft.com/office/officeart/2005/8/layout/list1"/>
    <dgm:cxn modelId="{DB7C61FB-9943-425B-B3DB-42E775D11DC6}" srcId="{6996DB2D-4D7E-421E-B23F-B1BD432BCB19}" destId="{CECC1C52-D9FC-46F5-875E-2AB5299781E0}" srcOrd="0" destOrd="0" parTransId="{D7595F81-872D-4314-AE4B-3E1F4138EF40}" sibTransId="{AEC89552-2214-4372-AC3B-6A503DD13058}"/>
    <dgm:cxn modelId="{CE8DCD53-4A47-4F1F-8A28-8F0716E934FB}" type="presParOf" srcId="{60D07F30-0C0F-4876-BE93-EBD29776261B}" destId="{DCFF3E2F-7CE6-4FCA-B870-2AB449DDC120}" srcOrd="0" destOrd="0" presId="urn:microsoft.com/office/officeart/2005/8/layout/list1"/>
    <dgm:cxn modelId="{BE8B787D-0847-405C-AEE8-E55DF8D84809}" type="presParOf" srcId="{DCFF3E2F-7CE6-4FCA-B870-2AB449DDC120}" destId="{4BFA5120-EE7C-44F5-BE49-B28915B9A1F9}" srcOrd="0" destOrd="0" presId="urn:microsoft.com/office/officeart/2005/8/layout/list1"/>
    <dgm:cxn modelId="{B73781D9-8BF4-4A41-817C-DDA1CB247455}" type="presParOf" srcId="{DCFF3E2F-7CE6-4FCA-B870-2AB449DDC120}" destId="{ABA1BF65-C50E-43DF-9508-D528001285C5}" srcOrd="1" destOrd="0" presId="urn:microsoft.com/office/officeart/2005/8/layout/list1"/>
    <dgm:cxn modelId="{3D1F1D6D-0847-438B-ACD2-A288E52AF2DB}" type="presParOf" srcId="{60D07F30-0C0F-4876-BE93-EBD29776261B}" destId="{44B0AF87-00FF-442E-A805-859537EECAEB}" srcOrd="1" destOrd="0" presId="urn:microsoft.com/office/officeart/2005/8/layout/list1"/>
    <dgm:cxn modelId="{60F18811-70E2-411F-A381-48DB7D7BDC43}" type="presParOf" srcId="{60D07F30-0C0F-4876-BE93-EBD29776261B}" destId="{8ECB7A0D-7174-48FA-ABA8-D9ACCEC88C8D}" srcOrd="2" destOrd="0" presId="urn:microsoft.com/office/officeart/2005/8/layout/list1"/>
    <dgm:cxn modelId="{24200891-97A5-46AF-84BD-BB4C5EBF8AB0}" type="presParOf" srcId="{60D07F30-0C0F-4876-BE93-EBD29776261B}" destId="{6B6D72F1-85FE-49CD-8B3B-510269AE2AD4}" srcOrd="3" destOrd="0" presId="urn:microsoft.com/office/officeart/2005/8/layout/list1"/>
    <dgm:cxn modelId="{B8E8F54E-7EFC-4088-AF62-DE3F5C6EEF03}" type="presParOf" srcId="{60D07F30-0C0F-4876-BE93-EBD29776261B}" destId="{6D49B85E-7E19-45BE-82F5-F3B144C6C02C}" srcOrd="4" destOrd="0" presId="urn:microsoft.com/office/officeart/2005/8/layout/list1"/>
    <dgm:cxn modelId="{1777E88C-FE24-4836-86EA-A92A9B395BC9}" type="presParOf" srcId="{6D49B85E-7E19-45BE-82F5-F3B144C6C02C}" destId="{FDED8042-C583-483A-991D-5EC784075453}" srcOrd="0" destOrd="0" presId="urn:microsoft.com/office/officeart/2005/8/layout/list1"/>
    <dgm:cxn modelId="{2B63E56F-31BE-48EE-86AE-E08F370E08A1}" type="presParOf" srcId="{6D49B85E-7E19-45BE-82F5-F3B144C6C02C}" destId="{63D15ED2-0970-4F92-A5ED-774EE4CBB7F8}" srcOrd="1" destOrd="0" presId="urn:microsoft.com/office/officeart/2005/8/layout/list1"/>
    <dgm:cxn modelId="{91010442-28AA-4EEE-846A-9148EC023652}" type="presParOf" srcId="{60D07F30-0C0F-4876-BE93-EBD29776261B}" destId="{4E183B16-3151-4365-AE54-0A2D42CE14F2}" srcOrd="5" destOrd="0" presId="urn:microsoft.com/office/officeart/2005/8/layout/list1"/>
    <dgm:cxn modelId="{6027992C-2971-416D-B8B3-54A5C93330CF}" type="presParOf" srcId="{60D07F30-0C0F-4876-BE93-EBD29776261B}" destId="{32354A79-03DC-4E30-935E-BCFCAB08A7F8}" srcOrd="6" destOrd="0" presId="urn:microsoft.com/office/officeart/2005/8/layout/list1"/>
    <dgm:cxn modelId="{D660C8D4-F3C7-4B45-AF61-E24D05C42A04}" type="presParOf" srcId="{60D07F30-0C0F-4876-BE93-EBD29776261B}" destId="{37145218-02D0-4A93-8CEF-3C742A44FD74}" srcOrd="7" destOrd="0" presId="urn:microsoft.com/office/officeart/2005/8/layout/list1"/>
    <dgm:cxn modelId="{C23FA8D5-BFAA-4157-8525-8265FB00443A}" type="presParOf" srcId="{60D07F30-0C0F-4876-BE93-EBD29776261B}" destId="{CE191FF5-DFB1-4F32-ADC6-98AD9AF37866}" srcOrd="8" destOrd="0" presId="urn:microsoft.com/office/officeart/2005/8/layout/list1"/>
    <dgm:cxn modelId="{86F0DA2C-1D2C-403A-B1FA-B92D59E4ABF5}" type="presParOf" srcId="{CE191FF5-DFB1-4F32-ADC6-98AD9AF37866}" destId="{679AA101-DD3E-4A11-973B-2CE39DD204BE}" srcOrd="0" destOrd="0" presId="urn:microsoft.com/office/officeart/2005/8/layout/list1"/>
    <dgm:cxn modelId="{DE0ACF2A-1199-4442-88FE-8A02ACF0C941}" type="presParOf" srcId="{CE191FF5-DFB1-4F32-ADC6-98AD9AF37866}" destId="{6A61118E-2AAE-4207-97A8-A58DB79D3431}" srcOrd="1" destOrd="0" presId="urn:microsoft.com/office/officeart/2005/8/layout/list1"/>
    <dgm:cxn modelId="{2E453F78-4D4B-497D-8412-7B76E81D25AC}" type="presParOf" srcId="{60D07F30-0C0F-4876-BE93-EBD29776261B}" destId="{321EA057-655A-450F-B969-B17760CC384D}" srcOrd="9" destOrd="0" presId="urn:microsoft.com/office/officeart/2005/8/layout/list1"/>
    <dgm:cxn modelId="{5EC4C7B2-7204-4F2B-AAFF-0F8458CA3062}" type="presParOf" srcId="{60D07F30-0C0F-4876-BE93-EBD29776261B}" destId="{43609280-29B2-44E3-8426-9858B74E31C7}" srcOrd="10" destOrd="0" presId="urn:microsoft.com/office/officeart/2005/8/layout/list1"/>
    <dgm:cxn modelId="{A909C74E-88CC-48AA-A3A2-71E70CED1304}" type="presParOf" srcId="{60D07F30-0C0F-4876-BE93-EBD29776261B}" destId="{5A469B0A-A068-4EB8-8386-AB06966C9C80}" srcOrd="11" destOrd="0" presId="urn:microsoft.com/office/officeart/2005/8/layout/list1"/>
    <dgm:cxn modelId="{77DAD2FD-406D-41B9-BE46-6E7AFA60CCD0}" type="presParOf" srcId="{60D07F30-0C0F-4876-BE93-EBD29776261B}" destId="{45AAFF9C-673F-4914-BE04-7D74015C6D63}" srcOrd="12" destOrd="0" presId="urn:microsoft.com/office/officeart/2005/8/layout/list1"/>
    <dgm:cxn modelId="{4E394B24-A323-4254-BD9E-87460F5DA723}" type="presParOf" srcId="{45AAFF9C-673F-4914-BE04-7D74015C6D63}" destId="{6811CC4E-6BAE-492E-BEA7-B2654D37B8B9}" srcOrd="0" destOrd="0" presId="urn:microsoft.com/office/officeart/2005/8/layout/list1"/>
    <dgm:cxn modelId="{A4CACE54-5BC4-442B-8F7C-700E0DF43CF7}" type="presParOf" srcId="{45AAFF9C-673F-4914-BE04-7D74015C6D63}" destId="{FCC01EE0-6671-4DE0-8BB4-D959A2AD96DE}" srcOrd="1" destOrd="0" presId="urn:microsoft.com/office/officeart/2005/8/layout/list1"/>
    <dgm:cxn modelId="{BBB9B550-2FED-4E62-B0DF-818FE0068931}" type="presParOf" srcId="{60D07F30-0C0F-4876-BE93-EBD29776261B}" destId="{6BCE4650-E6C1-494B-8DAE-D4146EB38CF4}" srcOrd="13" destOrd="0" presId="urn:microsoft.com/office/officeart/2005/8/layout/list1"/>
    <dgm:cxn modelId="{F7771BCA-2C3D-4885-BE30-B6D8024986A6}" type="presParOf" srcId="{60D07F30-0C0F-4876-BE93-EBD29776261B}" destId="{69E30C31-3634-460D-8A1F-1BFE5D1D15A1}" srcOrd="14" destOrd="0" presId="urn:microsoft.com/office/officeart/2005/8/layout/list1"/>
    <dgm:cxn modelId="{A4C4DE0A-EED3-4C8B-849E-CB0EE9D9FBD8}" type="presParOf" srcId="{60D07F30-0C0F-4876-BE93-EBD29776261B}" destId="{54BE4A1A-AFCB-4C40-B2F8-FEFA59963B10}" srcOrd="15" destOrd="0" presId="urn:microsoft.com/office/officeart/2005/8/layout/list1"/>
    <dgm:cxn modelId="{62B3272A-A8F8-4B60-A649-B63C5E657F54}" type="presParOf" srcId="{60D07F30-0C0F-4876-BE93-EBD29776261B}" destId="{80743460-5346-434F-B85A-E50B53A6969B}" srcOrd="16" destOrd="0" presId="urn:microsoft.com/office/officeart/2005/8/layout/list1"/>
    <dgm:cxn modelId="{AA7D1A0C-FF17-4E08-AEC0-8E2B6777065E}" type="presParOf" srcId="{80743460-5346-434F-B85A-E50B53A6969B}" destId="{310A7DAF-869C-4172-BEFF-5A67B5439D44}" srcOrd="0" destOrd="0" presId="urn:microsoft.com/office/officeart/2005/8/layout/list1"/>
    <dgm:cxn modelId="{EFD441CF-8FBB-416F-BBB5-675859CB5C30}" type="presParOf" srcId="{80743460-5346-434F-B85A-E50B53A6969B}" destId="{25089050-6D87-4AC8-9A6E-29132B2381ED}" srcOrd="1" destOrd="0" presId="urn:microsoft.com/office/officeart/2005/8/layout/list1"/>
    <dgm:cxn modelId="{DD24F4CC-7B24-4246-A658-2AD0653E0CA7}" type="presParOf" srcId="{60D07F30-0C0F-4876-BE93-EBD29776261B}" destId="{56236BC6-E11E-4CE3-A046-875621FD8192}" srcOrd="17" destOrd="0" presId="urn:microsoft.com/office/officeart/2005/8/layout/list1"/>
    <dgm:cxn modelId="{D50AB55F-B735-4B1A-8C7E-40B8841C7363}" type="presParOf" srcId="{60D07F30-0C0F-4876-BE93-EBD29776261B}" destId="{307D769C-E87D-4671-984B-ED2D7EDCE2DC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B7A0D-7174-48FA-ABA8-D9ACCEC88C8D}">
      <dsp:nvSpPr>
        <dsp:cNvPr id="0" name=""/>
        <dsp:cNvSpPr/>
      </dsp:nvSpPr>
      <dsp:spPr>
        <a:xfrm>
          <a:off x="0" y="42440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A1BF65-C50E-43DF-9508-D528001285C5}">
      <dsp:nvSpPr>
        <dsp:cNvPr id="0" name=""/>
        <dsp:cNvSpPr/>
      </dsp:nvSpPr>
      <dsp:spPr>
        <a:xfrm>
          <a:off x="333341" y="7016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Monthly Revenue &amp; Profit</a:t>
          </a:r>
        </a:p>
      </dsp:txBody>
      <dsp:txXfrm>
        <a:off x="367926" y="104745"/>
        <a:ext cx="4597613" cy="639310"/>
      </dsp:txXfrm>
    </dsp:sp>
    <dsp:sp modelId="{32354A79-03DC-4E30-935E-BCFCAB08A7F8}">
      <dsp:nvSpPr>
        <dsp:cNvPr id="0" name=""/>
        <dsp:cNvSpPr/>
      </dsp:nvSpPr>
      <dsp:spPr>
        <a:xfrm>
          <a:off x="0" y="151304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D15ED2-0970-4F92-A5ED-774EE4CBB7F8}">
      <dsp:nvSpPr>
        <dsp:cNvPr id="0" name=""/>
        <dsp:cNvSpPr/>
      </dsp:nvSpPr>
      <dsp:spPr>
        <a:xfrm>
          <a:off x="333341" y="115880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Top 5 Country by Revenue</a:t>
          </a:r>
        </a:p>
      </dsp:txBody>
      <dsp:txXfrm>
        <a:off x="367926" y="1193385"/>
        <a:ext cx="4597613" cy="639310"/>
      </dsp:txXfrm>
    </dsp:sp>
    <dsp:sp modelId="{43609280-29B2-44E3-8426-9858B74E31C7}">
      <dsp:nvSpPr>
        <dsp:cNvPr id="0" name=""/>
        <dsp:cNvSpPr/>
      </dsp:nvSpPr>
      <dsp:spPr>
        <a:xfrm>
          <a:off x="0" y="260168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61118E-2AAE-4207-97A8-A58DB79D3431}">
      <dsp:nvSpPr>
        <dsp:cNvPr id="0" name=""/>
        <dsp:cNvSpPr/>
      </dsp:nvSpPr>
      <dsp:spPr>
        <a:xfrm>
          <a:off x="333341" y="224744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kern="1200" dirty="0"/>
            <a:t>Revenue Share by Channel </a:t>
          </a:r>
          <a:endParaRPr lang="en-US" sz="2400" b="0" kern="1200" dirty="0"/>
        </a:p>
      </dsp:txBody>
      <dsp:txXfrm>
        <a:off x="367926" y="2282025"/>
        <a:ext cx="4597613" cy="639310"/>
      </dsp:txXfrm>
    </dsp:sp>
    <dsp:sp modelId="{69E30C31-3634-460D-8A1F-1BFE5D1D15A1}">
      <dsp:nvSpPr>
        <dsp:cNvPr id="0" name=""/>
        <dsp:cNvSpPr/>
      </dsp:nvSpPr>
      <dsp:spPr>
        <a:xfrm>
          <a:off x="0" y="3690319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C01EE0-6671-4DE0-8BB4-D959A2AD96DE}">
      <dsp:nvSpPr>
        <dsp:cNvPr id="0" name=""/>
        <dsp:cNvSpPr/>
      </dsp:nvSpPr>
      <dsp:spPr>
        <a:xfrm>
          <a:off x="333341" y="333608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Region wise Comparison</a:t>
          </a:r>
        </a:p>
      </dsp:txBody>
      <dsp:txXfrm>
        <a:off x="367926" y="3370665"/>
        <a:ext cx="4597613" cy="639310"/>
      </dsp:txXfrm>
    </dsp:sp>
    <dsp:sp modelId="{307D769C-E87D-4671-984B-ED2D7EDCE2DC}">
      <dsp:nvSpPr>
        <dsp:cNvPr id="0" name=""/>
        <dsp:cNvSpPr/>
      </dsp:nvSpPr>
      <dsp:spPr>
        <a:xfrm>
          <a:off x="0" y="4778959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089050-6D87-4AC8-9A6E-29132B2381ED}">
      <dsp:nvSpPr>
        <dsp:cNvPr id="0" name=""/>
        <dsp:cNvSpPr/>
      </dsp:nvSpPr>
      <dsp:spPr>
        <a:xfrm>
          <a:off x="333341" y="4424719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Country wise Map Chart</a:t>
          </a:r>
        </a:p>
      </dsp:txBody>
      <dsp:txXfrm>
        <a:off x="367926" y="4459304"/>
        <a:ext cx="4597613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CAFB9-9FB6-4613-A23B-39BAD0261718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F7DCAC-8614-40BA-B7A5-148BE68EF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91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Understand overall performance and identify where management needs to investigate.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7DCAC-8614-40BA-B7A5-148BE68EFC2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60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67A1C-C4E5-5533-01D2-7139941C1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9A40D-3D5B-8AFE-0126-94B8B3EE3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88253-9875-F9E8-F324-760764E8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E390-C526-4F62-B0EB-52FABEBAFFD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F680C-B880-72F6-C44A-8C6227E99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BEF18-8878-9C07-4E78-70488A3D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3EB43-B4A4-4E79-9F73-BB0CA0D5B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867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0BC7-8349-4B67-1D77-AF948D19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00675-5B2F-EDF1-56F1-D55D6F357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07B6D-4E57-2DB5-CBFD-A74C98E9E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E390-C526-4F62-B0EB-52FABEBAFFD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2C264-CB95-BC42-074E-DE994511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F5778-77F6-0E47-ABFA-5BC3159C8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3EB43-B4A4-4E79-9F73-BB0CA0D5B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97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F8086-C248-5C03-B57E-174012A5D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3F77B-0FD8-9238-340F-B90CBB7BA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0ABD5-B1AD-03A8-6200-2977EF67E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E390-C526-4F62-B0EB-52FABEBAFFD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0F9B1-7F83-E917-2BD7-6FD3321CB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35C4-8D64-0B90-129F-41D7C821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3EB43-B4A4-4E79-9F73-BB0CA0D5B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348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8B6EA-DFD3-0FBB-45A2-5AD35948A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470CD-955C-34B4-AEE6-BCA75FD2D9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11A3C-7AB2-E5FC-1EFA-81A8C8A74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F90AA-A7FF-F340-39A1-2CB66278B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E390-C526-4F62-B0EB-52FABEBAFFD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36810-3EB9-CB72-7672-7D7C20C55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B9560-6C61-CD84-5989-321CDC75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3EB43-B4A4-4E79-9F73-BB0CA0D5B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27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A974-F368-9314-8F8B-B26EB9FB7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A202D-34A7-35A9-D2AE-3A1E56081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1423A-E626-E1EC-8C97-6B3B18BE7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5766F-9CF7-E21A-8247-690981875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B860F-81A3-5CDB-302F-58187D590E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C46AC-FE45-B97D-A2A2-030DC99B7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E390-C526-4F62-B0EB-52FABEBAFFD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84820B-CDA1-0160-66A1-28749419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B5437C-5268-AC5D-30F3-6E7801B9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3EB43-B4A4-4E79-9F73-BB0CA0D5B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876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E377B-4873-CC6D-65B4-974C2C1A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8A4208-68D4-4B12-B98B-1A35D3F93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E390-C526-4F62-B0EB-52FABEBAFFD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01698-56A4-4652-33A6-08CCFD3A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3E93F-55CA-59EA-241A-B9E2B486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3EB43-B4A4-4E79-9F73-BB0CA0D5B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18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90CE86-A62F-4F02-B053-04BFBA21C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E390-C526-4F62-B0EB-52FABEBAFFD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93F7E-6B5F-B1AB-1DE7-10249494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06949-CCD9-2197-ABC3-8CD4FDCF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3EB43-B4A4-4E79-9F73-BB0CA0D5B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829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FA58-B85B-7F80-2A1C-A2373A8D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CB2B2-693C-BD64-3311-332A0217C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33999-1D30-652C-C1DE-4E91B8EED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12161-29D4-5CBD-A7BE-450302FDF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E390-C526-4F62-B0EB-52FABEBAFFD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450A4-B629-9A42-C6D1-215E632B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D54DC-A90A-924B-CD68-D1F6C7027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3EB43-B4A4-4E79-9F73-BB0CA0D5B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362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0120-00DD-A28F-69D3-1DB0D6CDC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C826A3-85FF-C84D-B1C3-A3DB5FF0D5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CBA43-0272-F967-E10F-F02CF7A11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DA294-DE6F-5E63-792F-4DC910A1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E390-C526-4F62-B0EB-52FABEBAFFD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37F81-986C-7D19-2248-D401C87B3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2B9FE-9392-CF2A-C2FF-70BD1B27F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3EB43-B4A4-4E79-9F73-BB0CA0D5B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51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1A10-3DD9-DE63-2C0F-17F86CFBA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7F58F-4B6D-234F-907C-DA9B12790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5CB8B-4A90-00F8-3B67-BE319647A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E390-C526-4F62-B0EB-52FABEBAFFD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7402D-F61C-1730-A72C-251A1FCFC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FB0E6-E700-13CC-BDD1-1E1EBBEA3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3EB43-B4A4-4E79-9F73-BB0CA0D5B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91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6D8A6-CE4D-444F-690C-3F9B4156A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9CE7D-7CC0-0CE9-E039-1010D471C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82154-21A2-B948-7E73-8BAED5558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8E390-C526-4F62-B0EB-52FABEBAFFD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442AD-1099-A97C-DF57-4FE03142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B3190-F1FB-95B8-4B8C-6EBE4C2B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3EB43-B4A4-4E79-9F73-BB0CA0D5B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23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736FA4-AFB0-68A3-C725-162A4F66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0116A-DA15-9DDB-3891-18EA3788A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4B75D-7588-7FBD-1F4B-F30388750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8E390-C526-4F62-B0EB-52FABEBAFFD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891EF-B1C7-F547-B2AB-93F389387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7E38B-F0BB-4CEA-5E36-E54022C52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3EB43-B4A4-4E79-9F73-BB0CA0D5BF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28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alculator, pen, compass, money and a paper with graphs printed on it">
            <a:extLst>
              <a:ext uri="{FF2B5EF4-FFF2-40B4-BE49-F238E27FC236}">
                <a16:creationId xmlns:a16="http://schemas.microsoft.com/office/drawing/2014/main" id="{3CAE927E-6EB1-EC28-65A7-6952C52084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663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D93386-616E-A1F7-3F74-38191ECC4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Executive Sales &amp; Profitability Dashboard</a:t>
            </a:r>
          </a:p>
        </p:txBody>
      </p:sp>
    </p:spTree>
    <p:extLst>
      <p:ext uri="{BB962C8B-B14F-4D97-AF65-F5344CB8AC3E}">
        <p14:creationId xmlns:p14="http://schemas.microsoft.com/office/powerpoint/2010/main" val="409690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418716-354B-5BAD-19DB-86D2305FF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KPI cards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D94C0C-04F9-28BB-EF66-DC757FBC00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6651144"/>
              </p:ext>
            </p:extLst>
          </p:nvPr>
        </p:nvGraphicFramePr>
        <p:xfrm>
          <a:off x="432225" y="2005781"/>
          <a:ext cx="11327549" cy="4355692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2558569">
                  <a:extLst>
                    <a:ext uri="{9D8B030D-6E8A-4147-A177-3AD203B41FA5}">
                      <a16:colId xmlns:a16="http://schemas.microsoft.com/office/drawing/2014/main" val="743702961"/>
                    </a:ext>
                  </a:extLst>
                </a:gridCol>
                <a:gridCol w="8768980">
                  <a:extLst>
                    <a:ext uri="{9D8B030D-6E8A-4147-A177-3AD203B41FA5}">
                      <a16:colId xmlns:a16="http://schemas.microsoft.com/office/drawing/2014/main" val="3919238604"/>
                    </a:ext>
                  </a:extLst>
                </a:gridCol>
              </a:tblGrid>
              <a:tr h="774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KPI</a:t>
                      </a:r>
                    </a:p>
                  </a:txBody>
                  <a:tcPr marL="256541" marR="153925" marT="153925" marB="15392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>
                        <a:lumMod val="95000"/>
                        <a:lumOff val="5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Why it matters</a:t>
                      </a:r>
                    </a:p>
                  </a:txBody>
                  <a:tcPr marL="256541" marR="153925" marT="153925" marB="15392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tx1">
                        <a:lumMod val="95000"/>
                        <a:lumOff val="5000"/>
                        <a:alpha val="3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684068"/>
                  </a:ext>
                </a:extLst>
              </a:tr>
              <a:tr h="716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Revenue</a:t>
                      </a:r>
                    </a:p>
                  </a:txBody>
                  <a:tcPr marL="256541" marR="153925" marT="153925" marB="15392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Measures business size</a:t>
                      </a:r>
                    </a:p>
                  </a:txBody>
                  <a:tcPr marL="256541" marR="153925" marT="153925" marB="15392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323569"/>
                  </a:ext>
                </a:extLst>
              </a:tr>
              <a:tr h="716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Gross Profit</a:t>
                      </a:r>
                    </a:p>
                  </a:txBody>
                  <a:tcPr marL="256541" marR="153925" marT="153925" marB="15392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Shows profit generated before operating expenses</a:t>
                      </a:r>
                    </a:p>
                  </a:txBody>
                  <a:tcPr marL="256541" marR="153925" marT="153925" marB="15392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318020"/>
                  </a:ext>
                </a:extLst>
              </a:tr>
              <a:tr h="716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Gross Margin %</a:t>
                      </a:r>
                    </a:p>
                  </a:txBody>
                  <a:tcPr marL="256541" marR="153925" marT="153925" marB="15392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Shows how efficiently sales generate profit</a:t>
                      </a:r>
                    </a:p>
                  </a:txBody>
                  <a:tcPr marL="256541" marR="153925" marT="153925" marB="15392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161682"/>
                  </a:ext>
                </a:extLst>
              </a:tr>
              <a:tr h="716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Units Sold</a:t>
                      </a:r>
                    </a:p>
                  </a:txBody>
                  <a:tcPr marL="256541" marR="153925" marT="153925" marB="15392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Separates sales volume from pricing effects</a:t>
                      </a:r>
                    </a:p>
                  </a:txBody>
                  <a:tcPr marL="256541" marR="153925" marT="153925" marB="15392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686221"/>
                  </a:ext>
                </a:extLst>
              </a:tr>
              <a:tr h="716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Sales Records</a:t>
                      </a:r>
                    </a:p>
                  </a:txBody>
                  <a:tcPr marL="256541" marR="153925" marT="153925" marB="15392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Shows transaction activity</a:t>
                      </a:r>
                    </a:p>
                  </a:txBody>
                  <a:tcPr marL="256541" marR="153925" marT="153925" marB="15392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491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092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811D7-C5EA-BADB-E4DD-BB015AB3B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Reports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38" name="Content Placeholder 5">
            <a:extLst>
              <a:ext uri="{FF2B5EF4-FFF2-40B4-BE49-F238E27FC236}">
                <a16:creationId xmlns:a16="http://schemas.microsoft.com/office/drawing/2014/main" id="{4E7FD4E0-4845-4298-72B6-7E128BF53D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060155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902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graphicEl>
                                              <a:dgm id="{ABA1BF65-C50E-43DF-9508-D528001285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graphicEl>
                                              <a:dgm id="{8ECB7A0D-7174-48FA-ABA8-D9ACCEC88C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graphicEl>
                                              <a:dgm id="{63D15ED2-0970-4F92-A5ED-774EE4CBB7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graphicEl>
                                              <a:dgm id="{32354A79-03DC-4E30-935E-BCFCAB08A7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graphicEl>
                                              <a:dgm id="{6A61118E-2AAE-4207-97A8-A58DB79D34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graphicEl>
                                              <a:dgm id="{43609280-29B2-44E3-8426-9858B74E31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graphicEl>
                                              <a:dgm id="{FCC01EE0-6671-4DE0-8BB4-D959A2AD9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graphicEl>
                                              <a:dgm id="{69E30C31-3634-460D-8A1F-1BFE5D1D15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graphicEl>
                                              <a:dgm id="{25089050-6D87-4AC8-9A6E-29132B2381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graphicEl>
                                              <a:dgm id="{307D769C-E87D-4671-984B-ED2D7EDCE2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8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1C7E4A-620C-1BB4-F9A6-46359689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Assignment</a:t>
            </a:r>
          </a:p>
        </p:txBody>
      </p:sp>
    </p:spTree>
    <p:extLst>
      <p:ext uri="{BB962C8B-B14F-4D97-AF65-F5344CB8AC3E}">
        <p14:creationId xmlns:p14="http://schemas.microsoft.com/office/powerpoint/2010/main" val="319575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E0FCF-CE6E-D5CF-56EF-D50BA96E4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Product &amp; Category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C8FEBF-0C07-3102-903C-8771491C01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0648711"/>
              </p:ext>
            </p:extLst>
          </p:nvPr>
        </p:nvGraphicFramePr>
        <p:xfrm>
          <a:off x="644056" y="2118910"/>
          <a:ext cx="10927830" cy="41801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5811">
                  <a:extLst>
                    <a:ext uri="{9D8B030D-6E8A-4147-A177-3AD203B41FA5}">
                      <a16:colId xmlns:a16="http://schemas.microsoft.com/office/drawing/2014/main" val="3246974153"/>
                    </a:ext>
                  </a:extLst>
                </a:gridCol>
                <a:gridCol w="3608983">
                  <a:extLst>
                    <a:ext uri="{9D8B030D-6E8A-4147-A177-3AD203B41FA5}">
                      <a16:colId xmlns:a16="http://schemas.microsoft.com/office/drawing/2014/main" val="1687448852"/>
                    </a:ext>
                  </a:extLst>
                </a:gridCol>
                <a:gridCol w="3613036">
                  <a:extLst>
                    <a:ext uri="{9D8B030D-6E8A-4147-A177-3AD203B41FA5}">
                      <a16:colId xmlns:a16="http://schemas.microsoft.com/office/drawing/2014/main" val="3649137411"/>
                    </a:ext>
                  </a:extLst>
                </a:gridCol>
              </a:tblGrid>
              <a:tr h="414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Chart</a:t>
                      </a:r>
                    </a:p>
                  </a:txBody>
                  <a:tcPr marL="94147" marR="94147" marT="47074" marB="47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PivotTable setup</a:t>
                      </a:r>
                    </a:p>
                  </a:txBody>
                  <a:tcPr marL="94147" marR="94147" marT="47074" marB="47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Business question and decision</a:t>
                      </a:r>
                    </a:p>
                  </a:txBody>
                  <a:tcPr marL="94147" marR="94147" marT="47074" marB="47074" anchor="ctr"/>
                </a:tc>
                <a:extLst>
                  <a:ext uri="{0D108BD9-81ED-4DB2-BD59-A6C34878D82A}">
                    <a16:rowId xmlns:a16="http://schemas.microsoft.com/office/drawing/2014/main" val="1913878868"/>
                  </a:ext>
                </a:extLst>
              </a:tr>
              <a:tr h="696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Revenue by Category — bars</a:t>
                      </a:r>
                    </a:p>
                  </a:txBody>
                  <a:tcPr marL="94147" marR="94147" marT="47074" marB="47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Rows: Product Category. Values: Sum Revenue</a:t>
                      </a:r>
                    </a:p>
                  </a:txBody>
                  <a:tcPr marL="94147" marR="94147" marT="47074" marB="47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Which categories drive sales?</a:t>
                      </a:r>
                    </a:p>
                  </a:txBody>
                  <a:tcPr marL="94147" marR="94147" marT="47074" marB="47074" anchor="ctr"/>
                </a:tc>
                <a:extLst>
                  <a:ext uri="{0D108BD9-81ED-4DB2-BD59-A6C34878D82A}">
                    <a16:rowId xmlns:a16="http://schemas.microsoft.com/office/drawing/2014/main" val="2637108213"/>
                  </a:ext>
                </a:extLst>
              </a:tr>
              <a:tr h="696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Gross Profit by Category — bars</a:t>
                      </a:r>
                    </a:p>
                  </a:txBody>
                  <a:tcPr marL="94147" marR="94147" marT="47074" marB="47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Rows: Product Category. Values: Sum Gross Profit</a:t>
                      </a:r>
                    </a:p>
                  </a:txBody>
                  <a:tcPr marL="94147" marR="94147" marT="47074" marB="47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Which categories generate the most profit?</a:t>
                      </a:r>
                    </a:p>
                  </a:txBody>
                  <a:tcPr marL="94147" marR="94147" marT="47074" marB="47074" anchor="ctr"/>
                </a:tc>
                <a:extLst>
                  <a:ext uri="{0D108BD9-81ED-4DB2-BD59-A6C34878D82A}">
                    <a16:rowId xmlns:a16="http://schemas.microsoft.com/office/drawing/2014/main" val="192487071"/>
                  </a:ext>
                </a:extLst>
              </a:tr>
              <a:tr h="696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Top 10 Products by Gross Profit — bars</a:t>
                      </a:r>
                    </a:p>
                  </a:txBody>
                  <a:tcPr marL="94147" marR="94147" marT="47074" marB="47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Rows: Product. Values: Sum Gross Profit. Top 10 filter</a:t>
                      </a:r>
                    </a:p>
                  </a:txBody>
                  <a:tcPr marL="94147" marR="94147" marT="47074" marB="47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Which products deserve commercial priority?</a:t>
                      </a:r>
                    </a:p>
                  </a:txBody>
                  <a:tcPr marL="94147" marR="94147" marT="47074" marB="47074" anchor="ctr"/>
                </a:tc>
                <a:extLst>
                  <a:ext uri="{0D108BD9-81ED-4DB2-BD59-A6C34878D82A}">
                    <a16:rowId xmlns:a16="http://schemas.microsoft.com/office/drawing/2014/main" val="3094221881"/>
                  </a:ext>
                </a:extLst>
              </a:tr>
              <a:tr h="696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Top 10 Products by Units Sold — bars</a:t>
                      </a:r>
                    </a:p>
                  </a:txBody>
                  <a:tcPr marL="94147" marR="94147" marT="47074" marB="47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Rows: Product. Values: Sum Units Sold. Top 10 filter</a:t>
                      </a:r>
                    </a:p>
                  </a:txBody>
                  <a:tcPr marL="94147" marR="94147" marT="47074" marB="47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Which products have the highest recorded sales volume?</a:t>
                      </a:r>
                    </a:p>
                  </a:txBody>
                  <a:tcPr marL="94147" marR="94147" marT="47074" marB="47074" anchor="ctr"/>
                </a:tc>
                <a:extLst>
                  <a:ext uri="{0D108BD9-81ED-4DB2-BD59-A6C34878D82A}">
                    <a16:rowId xmlns:a16="http://schemas.microsoft.com/office/drawing/2014/main" val="3737586952"/>
                  </a:ext>
                </a:extLst>
              </a:tr>
              <a:tr h="979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Monthly Revenue by Category — lines</a:t>
                      </a:r>
                    </a:p>
                  </a:txBody>
                  <a:tcPr marL="94147" marR="94147" marT="47074" marB="47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Rows: grouped Order Date. Columns: Product Category. Values: Sum Revenue</a:t>
                      </a:r>
                    </a:p>
                  </a:txBody>
                  <a:tcPr marL="94147" marR="94147" marT="47074" marB="470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When does each category sell strongly? Plan category campaigns.</a:t>
                      </a:r>
                    </a:p>
                  </a:txBody>
                  <a:tcPr marL="94147" marR="94147" marT="47074" marB="47074" anchor="ctr"/>
                </a:tc>
                <a:extLst>
                  <a:ext uri="{0D108BD9-81ED-4DB2-BD59-A6C34878D82A}">
                    <a16:rowId xmlns:a16="http://schemas.microsoft.com/office/drawing/2014/main" val="2896195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81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307BF-603C-9331-E187-430B6B222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Sales Channel &amp; Customer Mix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4A2B37-E9FA-F9C4-52B5-5F2353D091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777932"/>
              </p:ext>
            </p:extLst>
          </p:nvPr>
        </p:nvGraphicFramePr>
        <p:xfrm>
          <a:off x="1292325" y="2112579"/>
          <a:ext cx="9631291" cy="41928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64768">
                  <a:extLst>
                    <a:ext uri="{9D8B030D-6E8A-4147-A177-3AD203B41FA5}">
                      <a16:colId xmlns:a16="http://schemas.microsoft.com/office/drawing/2014/main" val="260839573"/>
                    </a:ext>
                  </a:extLst>
                </a:gridCol>
                <a:gridCol w="3251536">
                  <a:extLst>
                    <a:ext uri="{9D8B030D-6E8A-4147-A177-3AD203B41FA5}">
                      <a16:colId xmlns:a16="http://schemas.microsoft.com/office/drawing/2014/main" val="737160056"/>
                    </a:ext>
                  </a:extLst>
                </a:gridCol>
                <a:gridCol w="3214987">
                  <a:extLst>
                    <a:ext uri="{9D8B030D-6E8A-4147-A177-3AD203B41FA5}">
                      <a16:colId xmlns:a16="http://schemas.microsoft.com/office/drawing/2014/main" val="1705246901"/>
                    </a:ext>
                  </a:extLst>
                </a:gridCol>
              </a:tblGrid>
              <a:tr h="365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Chart</a:t>
                      </a:r>
                    </a:p>
                  </a:txBody>
                  <a:tcPr marL="82559" marR="82559" marT="41279" marB="4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PivotTable setup</a:t>
                      </a:r>
                    </a:p>
                  </a:txBody>
                  <a:tcPr marL="82559" marR="82559" marT="41279" marB="4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Business question and decision</a:t>
                      </a:r>
                    </a:p>
                  </a:txBody>
                  <a:tcPr marL="82559" marR="82559" marT="41279" marB="41279" anchor="ctr"/>
                </a:tc>
                <a:extLst>
                  <a:ext uri="{0D108BD9-81ED-4DB2-BD59-A6C34878D82A}">
                    <a16:rowId xmlns:a16="http://schemas.microsoft.com/office/drawing/2014/main" val="1367739931"/>
                  </a:ext>
                </a:extLst>
              </a:tr>
              <a:tr h="615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Revenue by Channel — bars</a:t>
                      </a:r>
                    </a:p>
                  </a:txBody>
                  <a:tcPr marL="82559" marR="82559" marT="41279" marB="4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Rows: Sales Channel. Values: Sum Revenue</a:t>
                      </a:r>
                    </a:p>
                  </a:txBody>
                  <a:tcPr marL="82559" marR="82559" marT="41279" marB="4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Which channels generate sales?</a:t>
                      </a:r>
                    </a:p>
                  </a:txBody>
                  <a:tcPr marL="82559" marR="82559" marT="41279" marB="41279" anchor="ctr"/>
                </a:tc>
                <a:extLst>
                  <a:ext uri="{0D108BD9-81ED-4DB2-BD59-A6C34878D82A}">
                    <a16:rowId xmlns:a16="http://schemas.microsoft.com/office/drawing/2014/main" val="3606941720"/>
                  </a:ext>
                </a:extLst>
              </a:tr>
              <a:tr h="615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Gross Profit by Channel — bars</a:t>
                      </a:r>
                    </a:p>
                  </a:txBody>
                  <a:tcPr marL="82559" marR="82559" marT="41279" marB="4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Rows: Sales Channel. Values: Sum Gross Profit</a:t>
                      </a:r>
                    </a:p>
                  </a:txBody>
                  <a:tcPr marL="82559" marR="82559" marT="41279" marB="4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Which channels contribute gross profit?</a:t>
                      </a:r>
                    </a:p>
                  </a:txBody>
                  <a:tcPr marL="82559" marR="82559" marT="41279" marB="41279" anchor="ctr"/>
                </a:tc>
                <a:extLst>
                  <a:ext uri="{0D108BD9-81ED-4DB2-BD59-A6C34878D82A}">
                    <a16:rowId xmlns:a16="http://schemas.microsoft.com/office/drawing/2014/main" val="3986234437"/>
                  </a:ext>
                </a:extLst>
              </a:tr>
              <a:tr h="865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Monthly Revenue by Channel — lines</a:t>
                      </a:r>
                    </a:p>
                  </a:txBody>
                  <a:tcPr marL="82559" marR="82559" marT="41279" marB="4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Rows: grouped Order Date. Columns: Sales Channel. Values: Sum Revenue</a:t>
                      </a:r>
                    </a:p>
                  </a:txBody>
                  <a:tcPr marL="82559" marR="82559" marT="41279" marB="4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Which channels are gaining or losing momentum?</a:t>
                      </a:r>
                    </a:p>
                  </a:txBody>
                  <a:tcPr marL="82559" marR="82559" marT="41279" marB="41279" anchor="ctr"/>
                </a:tc>
                <a:extLst>
                  <a:ext uri="{0D108BD9-81ED-4DB2-BD59-A6C34878D82A}">
                    <a16:rowId xmlns:a16="http://schemas.microsoft.com/office/drawing/2014/main" val="1428143045"/>
                  </a:ext>
                </a:extLst>
              </a:tr>
              <a:tr h="865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Customer Mix by Channel — 100% stacked columns</a:t>
                      </a:r>
                    </a:p>
                  </a:txBody>
                  <a:tcPr marL="82559" marR="82559" marT="41279" marB="4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Rows: Sales Channel. Columns: Customer Type. Values: Sum Revenue</a:t>
                      </a:r>
                    </a:p>
                  </a:txBody>
                  <a:tcPr marL="82559" marR="82559" marT="41279" marB="4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Which customer segments contribute within each channel?</a:t>
                      </a:r>
                    </a:p>
                  </a:txBody>
                  <a:tcPr marL="82559" marR="82559" marT="41279" marB="41279" anchor="ctr"/>
                </a:tc>
                <a:extLst>
                  <a:ext uri="{0D108BD9-81ED-4DB2-BD59-A6C34878D82A}">
                    <a16:rowId xmlns:a16="http://schemas.microsoft.com/office/drawing/2014/main" val="1462645366"/>
                  </a:ext>
                </a:extLst>
              </a:tr>
              <a:tr h="865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Revenue by Customer Type — bars</a:t>
                      </a:r>
                    </a:p>
                  </a:txBody>
                  <a:tcPr marL="82559" marR="82559" marT="41279" marB="4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Rows: Customer Type. Values: Sum Revenue</a:t>
                      </a:r>
                    </a:p>
                  </a:txBody>
                  <a:tcPr marL="82559" marR="82559" marT="41279" marB="41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How much revenue comes from New, Returning, and Business records?</a:t>
                      </a:r>
                    </a:p>
                  </a:txBody>
                  <a:tcPr marL="82559" marR="82559" marT="41279" marB="41279" anchor="ctr"/>
                </a:tc>
                <a:extLst>
                  <a:ext uri="{0D108BD9-81ED-4DB2-BD59-A6C34878D82A}">
                    <a16:rowId xmlns:a16="http://schemas.microsoft.com/office/drawing/2014/main" val="162733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812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E5021-B219-A867-B54E-DA941F08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Discount &amp; Margin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46E683-FC7A-1DF0-91DA-E3005D5052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460766"/>
              </p:ext>
            </p:extLst>
          </p:nvPr>
        </p:nvGraphicFramePr>
        <p:xfrm>
          <a:off x="882810" y="2112579"/>
          <a:ext cx="10450321" cy="41928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9422">
                  <a:extLst>
                    <a:ext uri="{9D8B030D-6E8A-4147-A177-3AD203B41FA5}">
                      <a16:colId xmlns:a16="http://schemas.microsoft.com/office/drawing/2014/main" val="3578517350"/>
                    </a:ext>
                  </a:extLst>
                </a:gridCol>
                <a:gridCol w="6690899">
                  <a:extLst>
                    <a:ext uri="{9D8B030D-6E8A-4147-A177-3AD203B41FA5}">
                      <a16:colId xmlns:a16="http://schemas.microsoft.com/office/drawing/2014/main" val="3939736451"/>
                    </a:ext>
                  </a:extLst>
                </a:gridCol>
              </a:tblGrid>
              <a:tr h="62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KPI</a:t>
                      </a:r>
                    </a:p>
                  </a:txBody>
                  <a:tcPr marL="142612" marR="142612" marT="71306" marB="71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Calculation</a:t>
                      </a:r>
                    </a:p>
                  </a:txBody>
                  <a:tcPr marL="142612" marR="142612" marT="71306" marB="71306" anchor="ctr"/>
                </a:tc>
                <a:extLst>
                  <a:ext uri="{0D108BD9-81ED-4DB2-BD59-A6C34878D82A}">
                    <a16:rowId xmlns:a16="http://schemas.microsoft.com/office/drawing/2014/main" val="2722980819"/>
                  </a:ext>
                </a:extLst>
              </a:tr>
              <a:tr h="62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Revenue</a:t>
                      </a:r>
                    </a:p>
                  </a:txBody>
                  <a:tcPr marL="142612" marR="142612" marT="71306" marB="71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Sum Revenue</a:t>
                      </a:r>
                    </a:p>
                  </a:txBody>
                  <a:tcPr marL="142612" marR="142612" marT="71306" marB="71306" anchor="ctr"/>
                </a:tc>
                <a:extLst>
                  <a:ext uri="{0D108BD9-81ED-4DB2-BD59-A6C34878D82A}">
                    <a16:rowId xmlns:a16="http://schemas.microsoft.com/office/drawing/2014/main" val="3230726603"/>
                  </a:ext>
                </a:extLst>
              </a:tr>
              <a:tr h="62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Gross Profit</a:t>
                      </a:r>
                    </a:p>
                  </a:txBody>
                  <a:tcPr marL="142612" marR="142612" marT="71306" marB="71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Sum Gross Profit</a:t>
                      </a:r>
                    </a:p>
                  </a:txBody>
                  <a:tcPr marL="142612" marR="142612" marT="71306" marB="71306" anchor="ctr"/>
                </a:tc>
                <a:extLst>
                  <a:ext uri="{0D108BD9-81ED-4DB2-BD59-A6C34878D82A}">
                    <a16:rowId xmlns:a16="http://schemas.microsoft.com/office/drawing/2014/main" val="2402648376"/>
                  </a:ext>
                </a:extLst>
              </a:tr>
              <a:tr h="62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Gross Margin %</a:t>
                      </a:r>
                    </a:p>
                  </a:txBody>
                  <a:tcPr marL="142612" marR="142612" marT="71306" marB="71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Total Gross Profit ÷ Total Revenue</a:t>
                      </a:r>
                    </a:p>
                  </a:txBody>
                  <a:tcPr marL="142612" marR="142612" marT="71306" marB="71306" anchor="ctr"/>
                </a:tc>
                <a:extLst>
                  <a:ext uri="{0D108BD9-81ED-4DB2-BD59-A6C34878D82A}">
                    <a16:rowId xmlns:a16="http://schemas.microsoft.com/office/drawing/2014/main" val="635884449"/>
                  </a:ext>
                </a:extLst>
              </a:tr>
              <a:tr h="62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Discount Amount</a:t>
                      </a:r>
                    </a:p>
                  </a:txBody>
                  <a:tcPr marL="142612" marR="142612" marT="71306" marB="71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Sum of Units × Unit Price × Discount %</a:t>
                      </a:r>
                    </a:p>
                  </a:txBody>
                  <a:tcPr marL="142612" marR="142612" marT="71306" marB="71306" anchor="ctr"/>
                </a:tc>
                <a:extLst>
                  <a:ext uri="{0D108BD9-81ED-4DB2-BD59-A6C34878D82A}">
                    <a16:rowId xmlns:a16="http://schemas.microsoft.com/office/drawing/2014/main" val="602144578"/>
                  </a:ext>
                </a:extLst>
              </a:tr>
              <a:tr h="1055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Effective Discount %</a:t>
                      </a:r>
                    </a:p>
                  </a:txBody>
                  <a:tcPr marL="142612" marR="142612" marT="71306" marB="713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Total Discount Amount ÷ Total Pre-discount Sales</a:t>
                      </a:r>
                    </a:p>
                  </a:txBody>
                  <a:tcPr marL="142612" marR="142612" marT="71306" marB="71306" anchor="ctr"/>
                </a:tc>
                <a:extLst>
                  <a:ext uri="{0D108BD9-81ED-4DB2-BD59-A6C34878D82A}">
                    <a16:rowId xmlns:a16="http://schemas.microsoft.com/office/drawing/2014/main" val="2597048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395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406</Words>
  <Application>Microsoft Office PowerPoint</Application>
  <PresentationFormat>Widescreen</PresentationFormat>
  <Paragraphs>74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Executive Sales &amp; Profitability Dashboard</vt:lpstr>
      <vt:lpstr>KPI cards</vt:lpstr>
      <vt:lpstr>Reports</vt:lpstr>
      <vt:lpstr>Assignment</vt:lpstr>
      <vt:lpstr>Product &amp; Category Performance</vt:lpstr>
      <vt:lpstr>Sales Channel &amp; Customer Mix</vt:lpstr>
      <vt:lpstr>Discount &amp; Margin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Satish Dhawale</cp:lastModifiedBy>
  <cp:revision>2</cp:revision>
  <dcterms:created xsi:type="dcterms:W3CDTF">2026-10-02T05:07:28Z</dcterms:created>
  <dcterms:modified xsi:type="dcterms:W3CDTF">2026-10-02T07:55:00Z</dcterms:modified>
</cp:coreProperties>
</file>